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Citi Bike Rebalancing With RL and Heuristic Baselines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March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Empty origin stations create unmet trips.</a:t>
            </a:r>
          </a:p>
          <a:p>
            <a:pPr lvl="0"/>
            <a:r>
              <a:rPr/>
              <a:t>Full destination stations create overflow and operational waste.</a:t>
            </a:r>
          </a:p>
          <a:p>
            <a:pPr lvl="0"/>
            <a:r>
              <a:rPr/>
              <a:t>Rebalancing is sequential: moving bikes now can help later demand, but every move has a cost.</a:t>
            </a:r>
          </a:p>
          <a:p>
            <a:pPr lvl="0"/>
            <a:r>
              <a:rPr/>
              <a:t>The project goal is to test whether RL can beat a strong forecast-based heuristic under a realistic temporal holdout.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RL outperform a demand-aware heuristic on a strict future-month test set?</a:t>
            </a:r>
          </a:p>
          <a:p>
            <a:pPr lvl="0"/>
            <a:r>
              <a:rPr/>
              <a:t>Why this matters: beating a no-op baseline is easy to overstate, but beating a forecast-aware operational baseline is meaningful.</a:t>
            </a:r>
          </a:p>
          <a:p>
            <a:pPr lvl="0"/>
            <a:r>
              <a:rPr/>
              <a:t>Final evaluation: train on January 2025 through January 2026 and test on February 2026.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Five-station Jersey City subproblem: </a:t>
            </a:r>
            <a:r>
              <a:rPr>
                <a:latin typeface="Courier"/>
              </a:rPr>
              <a:t>JC115</a:t>
            </a:r>
            <a:r>
              <a:rPr/>
              <a:t>, </a:t>
            </a:r>
            <a:r>
              <a:rPr>
                <a:latin typeface="Courier"/>
              </a:rPr>
              <a:t>HB101</a:t>
            </a:r>
            <a:r>
              <a:rPr/>
              <a:t>, </a:t>
            </a:r>
            <a:r>
              <a:rPr>
                <a:latin typeface="Courier"/>
              </a:rPr>
              <a:t>HB106</a:t>
            </a:r>
            <a:r>
              <a:rPr/>
              <a:t>, </a:t>
            </a:r>
            <a:r>
              <a:rPr>
                <a:latin typeface="Courier"/>
              </a:rPr>
              <a:t>JC009</a:t>
            </a:r>
            <a:r>
              <a:rPr/>
              <a:t>, </a:t>
            </a:r>
            <a:r>
              <a:rPr>
                <a:latin typeface="Courier"/>
              </a:rPr>
              <a:t>JC109</a:t>
            </a:r>
          </a:p>
          <a:p>
            <a:pPr lvl="0"/>
            <a:r>
              <a:rPr/>
              <a:t>State: inventory, calendar, holiday/weather, and demand-profile features</a:t>
            </a:r>
          </a:p>
          <a:p>
            <a:pPr lvl="0"/>
            <a:r>
              <a:rPr/>
              <a:t>Actions: </a:t>
            </a:r>
            <a:r>
              <a:rPr>
                <a:latin typeface="Courier"/>
              </a:rPr>
              <a:t>no_op</a:t>
            </a:r>
            <a:r>
              <a:rPr/>
              <a:t> plus fixed-size directed bike transfers</a:t>
            </a:r>
          </a:p>
          <a:p>
            <a:pPr lvl="0"/>
            <a:r>
              <a:rPr/>
              <a:t>Reward: served-trip reward minus unmet-demand, move, and overflow penalties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Citi Bike Jersey City monthly trip files from January 2025 through February 2026</a:t>
            </a:r>
          </a:p>
          <a:p>
            <a:pPr lvl="0"/>
            <a:r>
              <a:rPr/>
              <a:t>NOAA daily weather from station </a:t>
            </a:r>
            <a:r>
              <a:rPr>
                <a:latin typeface="Courier"/>
              </a:rPr>
              <a:t>USW00014734</a:t>
            </a:r>
          </a:p>
          <a:p>
            <a:pPr lvl="0"/>
            <a:r>
              <a:rPr/>
              <a:t>14 processed monthly flow files</a:t>
            </a:r>
          </a:p>
          <a:p>
            <a:pPr lvl="0"/>
            <a:r>
              <a:rPr/>
              <a:t>423 daily demand episodes total</a:t>
            </a:r>
          </a:p>
          <a:p>
            <a:pPr lvl="0"/>
            <a:r>
              <a:rPr/>
              <a:t>396 train episodes and 27 February 2026 test episodes in the primary holdout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baseline_no_op</a:t>
            </a:r>
          </a:p>
          <a:p>
            <a:pPr lvl="0"/>
            <a:r>
              <a:rPr>
                <a:latin typeface="Courier"/>
              </a:rPr>
              <a:t>heuristic_demand_profile</a:t>
            </a:r>
          </a:p>
          <a:p>
            <a:pPr lvl="0"/>
            <a:r>
              <a:rPr/>
              <a:t>Tabular Q-learning progression: inventory only, then calendar, forecast, holiday, and weather context</a:t>
            </a:r>
          </a:p>
          <a:p>
            <a:pPr lvl="0"/>
            <a:r>
              <a:rPr/>
              <a:t>Dueling Double DQN with dense state features</a:t>
            </a:r>
          </a:p>
          <a:p>
            <a:pPr lvl="0"/>
            <a:r>
              <a:rPr/>
              <a:t>DQN move-margin regularization: only move when </a:t>
            </a:r>
            <a:r>
              <a:rPr>
                <a:latin typeface="Courier"/>
              </a:rPr>
              <a:t>Q(move) &gt;= Q(no_op) + margin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Development Result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On the early within-February split, the heuristic immediately became the real benchmark.</a:t>
            </a:r>
          </a:p>
          <a:p>
            <a:pPr lvl="0"/>
            <a:r>
              <a:rPr/>
              <a:t>Calendar features helped tabular Q-learning close the gap to no-op.</a:t>
            </a:r>
          </a:p>
          <a:p>
            <a:pPr lvl="0"/>
            <a:r>
              <a:rPr/>
              <a:t>But the demand-profile heuristic still won clearly.</a:t>
            </a:r>
          </a:p>
        </p:txBody>
      </p:sp>
      <p:pic>
        <p:nvPicPr>
          <p:cNvPr descr="assets/jc_202602_top5_calendar_heuristic_v1_policy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46200"/>
            <a:ext cx="51054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Main Seasonal Holdout Result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Strict holdout: train through January 2026, test on February 2026</a:t>
            </a:r>
          </a:p>
          <a:p>
            <a:pPr lvl="0"/>
            <a:r>
              <a:rPr/>
              <a:t>No-op baseline: </a:t>
            </a:r>
            <a:r>
              <a:rPr>
                <a:latin typeface="Courier"/>
              </a:rPr>
              <a:t>109.33</a:t>
            </a:r>
          </a:p>
          <a:p>
            <a:pPr lvl="0"/>
            <a:r>
              <a:rPr/>
              <a:t>Heuristic baseline: </a:t>
            </a:r>
            <a:r>
              <a:rPr>
                <a:latin typeface="Courier"/>
              </a:rPr>
              <a:t>122.45</a:t>
            </a:r>
          </a:p>
          <a:p>
            <a:pPr lvl="0"/>
            <a:r>
              <a:rPr/>
              <a:t>Q table with heuristic fallback: </a:t>
            </a:r>
            <a:r>
              <a:rPr>
                <a:latin typeface="Courier"/>
              </a:rPr>
              <a:t>122.21</a:t>
            </a:r>
          </a:p>
          <a:p>
            <a:pPr lvl="0"/>
            <a:r>
              <a:rPr/>
              <a:t>The Q-table is almost entirely fallback on this holdout: </a:t>
            </a:r>
            <a:r>
              <a:rPr>
                <a:latin typeface="Courier"/>
              </a:rPr>
              <a:t>23.96</a:t>
            </a:r>
            <a:r>
              <a:rPr/>
              <a:t> fallback actions per day</a:t>
            </a:r>
          </a:p>
        </p:txBody>
      </p:sp>
      <p:pic>
        <p:nvPicPr>
          <p:cNvPr descr="assets/jc_2025_full_year_to_202602_holdout_weather_v1_policy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46200"/>
            <a:ext cx="51054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DQN Result and Caveat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Unregularized DQN over-moved bikes and underperformed the heuristic.</a:t>
            </a:r>
          </a:p>
          <a:p>
            <a:pPr lvl="0"/>
            <a:r>
              <a:rPr/>
              <a:t>Move-margin regularization improved the best DQN run: </a:t>
            </a:r>
            <a:r>
              <a:rPr>
                <a:latin typeface="Courier"/>
              </a:rPr>
              <a:t>123.63</a:t>
            </a:r>
            <a:r>
              <a:rPr/>
              <a:t> vs heuristic </a:t>
            </a:r>
            <a:r>
              <a:rPr>
                <a:latin typeface="Courier"/>
              </a:rPr>
              <a:t>122.45</a:t>
            </a:r>
          </a:p>
          <a:p>
            <a:pPr lvl="0"/>
            <a:r>
              <a:rPr/>
              <a:t>But that win was not stable across seeds.</a:t>
            </a:r>
          </a:p>
        </p:txBody>
      </p:sp>
      <p:pic>
        <p:nvPicPr>
          <p:cNvPr descr="assets/jc_2025_full_year_to_202602_holdout_dqn_margin_v1_policy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46200"/>
            <a:ext cx="51054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Robustness Check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DQN avg 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Heuristic avg reward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123.63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122.45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113.61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122.45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116.95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122.45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Conclusion: the regularized DQN is promising, but not robust enough to claim a stable improvement.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repo now contains a complete, reproducible RL research pipeline with real demand and weather data.</a:t>
            </a:r>
          </a:p>
          <a:p>
            <a:pPr lvl="0"/>
            <a:r>
              <a:rPr/>
              <a:t>The demand-profile heuristic is the strongest robust policy on the February 2026 holdout.</a:t>
            </a:r>
          </a:p>
          <a:p>
            <a:pPr lvl="0"/>
            <a:r>
              <a:rPr/>
              <a:t>The move-margin DQN best run is encouraging, but stability is still the main blocker.</a:t>
            </a:r>
          </a:p>
          <a:p>
            <a:pPr lvl="0"/>
            <a:r>
              <a:rPr/>
              <a:t>Next modeling step: residual learning around the heuristic, plus broader seed and holdout evaluation.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 Bike Rebalancing With RL and Heuristic Baselines</dc:title>
  <dc:creator>March 2026</dc:creator>
  <cp:keywords/>
  <dcterms:created xsi:type="dcterms:W3CDTF">2026-04-25T05:05:43Z</dcterms:created>
  <dcterms:modified xsi:type="dcterms:W3CDTF">2026-04-25T05:05:43Z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